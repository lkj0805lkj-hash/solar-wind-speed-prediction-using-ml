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9" r:id="rId2"/>
    <p:sldId id="270" r:id="rId3"/>
    <p:sldId id="271" r:id="rId4"/>
    <p:sldId id="273" r:id="rId5"/>
    <p:sldId id="264" r:id="rId6"/>
    <p:sldId id="267" r:id="rId7"/>
    <p:sldId id="268" r:id="rId8"/>
    <p:sldId id="274" r:id="rId9"/>
    <p:sldId id="275" r:id="rId10"/>
    <p:sldId id="257" r:id="rId11"/>
    <p:sldId id="258" r:id="rId12"/>
    <p:sldId id="260" r:id="rId13"/>
    <p:sldId id="261" r:id="rId14"/>
    <p:sldId id="262" r:id="rId15"/>
    <p:sldId id="259" r:id="rId16"/>
    <p:sldId id="265" r:id="rId17"/>
    <p:sldId id="263" r:id="rId18"/>
    <p:sldId id="276" r:id="rId1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9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32E68-E58C-46B9-A4A4-D5806C4FCB5F}" type="datetimeFigureOut">
              <a:rPr lang="en-BE" smtClean="0"/>
              <a:t>27/01/2026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EC56F-5E62-4768-803E-5F7072693EF9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8241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EC56F-5E62-4768-803E-5F7072693EF9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517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CF9E-A168-F5A9-CAB7-98EE1794F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06950-D377-3DDA-1C94-AD0AB7FEF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74445-316F-9C5E-2A01-50E7484B3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B94D3-AEBB-43CC-A87A-827E6942BA25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954F0-E0E5-EEF1-14BC-A7C4723D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29273-FA2C-32DB-65C5-2BD27C27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8776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860F-EC87-05F9-EDC9-E34D5C76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025F-9007-7498-DEB8-F0F628473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0162B-9130-30B1-2DF9-641D8BB9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A9123-74D7-4C12-A7A5-92ADD1AB79D8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279A5-009C-6996-5192-4DDE11CA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947B-AD37-7800-DB21-B4546121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252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C773-11FD-9588-CE32-1C5299E9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69614-F5BA-75A7-31A2-4CAC06484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9E08-0958-01C2-BE12-A3A869AA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72437-65B7-457D-B18A-CC8A69F3D2F1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D2677-C4FB-29E4-09A4-A41474D6B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B94F4-93DA-E691-1200-894CD708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9953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0182-4697-D246-2CFA-79E37DD1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DBF18-228F-6CD9-29AD-9C9B541A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20FAF-DD52-4185-197A-976E507AE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C123-B0E3-4D22-8D79-2D2EB4DF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81A-8BCA-4262-BF13-8504FEB2331C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FD0E2-AA42-CC73-5FE6-274CBC40B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3040-2FA1-F3BF-810E-5D985509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1800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7B0D-6005-8C58-1404-B1BCED86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EE868-6935-69B6-5F6F-85C008C2E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18E8F-F20E-7E04-3C6B-03FED5BE3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15150-9C81-4A31-91F2-A13B69636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A16F83-84A3-4242-FDD4-086DDCF4E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E8C04-EF2E-D096-A677-CEA9B13C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49FCC-625F-4E16-9179-7DB701E04CA5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0AE1C-0F9D-183F-4835-37854785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1644D-342A-7981-1D5C-5E4F7A68D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20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3436-4FA3-D700-F68D-4EFC965EF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02ED7-CB19-C21E-7D1C-A70F5C89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8944-7829-4A7B-934D-8F8680506B1B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AC75-289B-4ABF-F3E8-E4A7516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1C2F1-9FBF-7049-1BC0-95AD695A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912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576B1-3945-DF44-7923-85E5DDFF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DF06-8DFE-441A-AA87-6292FEFEE460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520D0-E4EF-708A-8079-0253A245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61F8B-B098-A09D-4B6E-30BD1E00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5948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4A7F-56D5-1175-967F-17D4B4B3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005E-6ACC-C497-5DB9-A56A6BA11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97B6C-973C-54F0-0910-329A1F5B1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BB53A-95C9-BEC8-5083-D0DC7126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64CF-45B9-4E94-B8DD-15A10DAE92E2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0E155-BD9B-53AC-C45D-39510A3A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F5F98-15CE-2FD9-A10F-E7627B26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759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7042-120B-CF61-B94F-1BB13C96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4466EC-DAB5-D530-10B6-770EB52A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18CA1-2064-8F93-9C85-4E41CC8AD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D91AB-F5B1-48B2-038A-34DCDF31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18F1-D2AB-4E49-973A-155998D0B650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C8561-7A6F-DC19-4005-C27CB68E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50D6-A35A-A2EF-7C01-84040568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99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FEF8-7423-09D3-0893-F77904EAB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F27C7-0AB8-1A90-2DF2-443EA899C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81AA-E246-7B94-097B-AC9FA335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02B0-DB4E-4BA0-B4F8-EB765968AAEF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7E700-FE28-94A2-89EC-AD4E8415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E37F7-2367-A6F9-91FD-280FEA1A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093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139613-AB63-0B11-26DD-41D5CAF467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BC869-1654-CEAD-9E8F-B0757F277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16522-F293-FA12-4F56-98FD4FA5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EAFF9-0F09-4071-8621-0D0A8C9855B4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02783-FAA5-B6DD-7043-76A907D5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C41C-64BD-FA1B-7BE8-8E42BE85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6510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7E4C0-6517-2FDD-9F08-CE561B79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CD534-C0C5-F3F9-1C6F-684D89E30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2A7E0-AA4B-7C10-118D-F2E962DE2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5F61A-2D9A-4175-B9DF-414F3D4C6877}" type="datetime8">
              <a:rPr lang="en-BE" smtClean="0"/>
              <a:t>27/01/2026 11:11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7A99D-1C9F-F6E8-A660-8BF291F73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C739C-4214-6F7B-491C-C107E73CB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249C0-99BF-4490-9BBD-E823780550C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7322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207-015-0680-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2/2016SW00139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oml" TargetMode="External"/><Relationship Id="rId2" Type="http://schemas.openxmlformats.org/officeDocument/2006/relationships/hyperlink" Target="https://omniweb.gsfc.nasa.gov/form/dx1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DOML/SDOMLv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29/2020SW002478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hal-Upendran/WindNet" TargetMode="External"/><Relationship Id="rId2" Type="http://schemas.openxmlformats.org/officeDocument/2006/relationships/hyperlink" Target="https://doi.org/10.1029/2020SW00247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29/2022JA030868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/6873690" TargetMode="External"/><Relationship Id="rId2" Type="http://schemas.openxmlformats.org/officeDocument/2006/relationships/hyperlink" Target="https://agupubs.onlinelibrary.wiley.com/doi/full/10.1029/2022JA030868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gupubs.onlinelibrary.wiley.com/doi/full/10.1029/2022JA030868#jgra57471-bib-000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9/2024JH000566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2F8F-74C4-C6B8-3AD9-4480653B1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BE" dirty="0"/>
              <a:t>Prediction of geomagnetic disturbance using empirical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15140-F278-AAED-C084-307F43D8B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Quantity of interest: 1/ solar wind speed, 2/ Planetary </a:t>
            </a:r>
            <a:r>
              <a:rPr lang="en-BE" dirty="0" err="1"/>
              <a:t>Kp</a:t>
            </a:r>
            <a:r>
              <a:rPr lang="en-BE" dirty="0"/>
              <a:t> index,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9F084-C53F-3965-05B7-F5F8BB0E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520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B04D-64F9-87EB-D3E8-5506B0FB0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1. Quantity of interest: Solar wind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5BB14-F14C-FCAE-D632-B6E2858BC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6941" cy="4351338"/>
          </a:xfrm>
        </p:spPr>
        <p:txBody>
          <a:bodyPr>
            <a:normAutofit/>
          </a:bodyPr>
          <a:lstStyle/>
          <a:p>
            <a:r>
              <a:rPr lang="en-BE" dirty="0"/>
              <a:t>Fast solar wind (</a:t>
            </a:r>
            <a:r>
              <a:rPr lang="en-US" dirty="0"/>
              <a:t>750 km/s</a:t>
            </a:r>
            <a:r>
              <a:rPr lang="en-BE" dirty="0"/>
              <a:t>) is known to originate from coronal holes, which are regions of open magnetic field lines. </a:t>
            </a:r>
          </a:p>
          <a:p>
            <a:r>
              <a:rPr lang="en-US" dirty="0"/>
              <a:t>O</a:t>
            </a:r>
            <a:r>
              <a:rPr lang="en-BE" dirty="0" err="1"/>
              <a:t>rigin</a:t>
            </a:r>
            <a:r>
              <a:rPr lang="en-BE" dirty="0"/>
              <a:t> of slow </a:t>
            </a:r>
            <a:r>
              <a:rPr lang="en-US" dirty="0"/>
              <a:t>solar wind</a:t>
            </a:r>
            <a:r>
              <a:rPr lang="en-BE" dirty="0"/>
              <a:t> (</a:t>
            </a:r>
            <a:r>
              <a:rPr lang="en-US" dirty="0"/>
              <a:t>300–500 km/s</a:t>
            </a:r>
            <a:r>
              <a:rPr lang="en-BE" dirty="0"/>
              <a:t>) is more debated, it is linked </a:t>
            </a:r>
            <a:r>
              <a:rPr lang="en-US" dirty="0"/>
              <a:t>coronal streamers</a:t>
            </a:r>
            <a:r>
              <a:rPr lang="en-BE" dirty="0"/>
              <a:t> </a:t>
            </a:r>
            <a:r>
              <a:rPr lang="en-US" dirty="0"/>
              <a:t> </a:t>
            </a:r>
            <a:endParaRPr lang="en-BE" dirty="0"/>
          </a:p>
          <a:p>
            <a:r>
              <a:rPr lang="en-US" dirty="0"/>
              <a:t>S</a:t>
            </a:r>
            <a:r>
              <a:rPr lang="en-BE" dirty="0" err="1"/>
              <a:t>olar</a:t>
            </a:r>
            <a:r>
              <a:rPr lang="en-BE" dirty="0"/>
              <a:t> wind </a:t>
            </a:r>
            <a:r>
              <a:rPr lang="en-US" dirty="0"/>
              <a:t>speed is closely related to the information o</a:t>
            </a:r>
            <a:r>
              <a:rPr lang="en-BE" dirty="0"/>
              <a:t>f</a:t>
            </a:r>
            <a:r>
              <a:rPr lang="en-US" dirty="0"/>
              <a:t> </a:t>
            </a:r>
            <a:r>
              <a:rPr lang="en-US" b="1" dirty="0"/>
              <a:t>coronal hole (CH) areas</a:t>
            </a:r>
          </a:p>
          <a:p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598CF-14DA-4BDF-2EB7-338C44F3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2</a:t>
            </a:fld>
            <a:endParaRPr lang="en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855400-D0CE-CD59-856C-02F7A06CC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870075"/>
            <a:ext cx="3850957" cy="385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457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9A09-0B3A-9357-135E-4808AE75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E</a:t>
            </a:r>
            <a:r>
              <a:rPr lang="en-US" dirty="0" err="1"/>
              <a:t>mpirical</a:t>
            </a:r>
            <a:r>
              <a:rPr lang="en-US" dirty="0"/>
              <a:t> solar wind forecast (ESWF) model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29B6E-11CD-267B-9B93-F7E9D14F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3</a:t>
            </a:fld>
            <a:endParaRPr lang="en-B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E88558E-0CEB-BA23-1522-D35F455E58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86" y="1847850"/>
            <a:ext cx="470747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E2A5EB-8B8D-6A5B-902E-4E5196472CAC}"/>
              </a:ext>
            </a:extLst>
          </p:cNvPr>
          <p:cNvSpPr txBox="1"/>
          <p:nvPr/>
        </p:nvSpPr>
        <p:spPr>
          <a:xfrm>
            <a:off x="7201243" y="1690688"/>
            <a:ext cx="47074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Rotter, T., </a:t>
            </a:r>
            <a:r>
              <a:rPr lang="en-US" dirty="0" err="1"/>
              <a:t>Veronig</a:t>
            </a:r>
            <a:r>
              <a:rPr lang="en-US" dirty="0"/>
              <a:t>, A.M., Temmer, M. </a:t>
            </a:r>
            <a:r>
              <a:rPr lang="en-US" i="1" dirty="0"/>
              <a:t>et al.</a:t>
            </a:r>
            <a:r>
              <a:rPr lang="en-US" dirty="0"/>
              <a:t> Real-Time Solar Wind Prediction Based on SDO/AIA Coronal Hole Data. </a:t>
            </a:r>
            <a:r>
              <a:rPr lang="en-US" i="1" dirty="0"/>
              <a:t>Sol Phys</a:t>
            </a:r>
            <a:r>
              <a:rPr lang="en-US" dirty="0"/>
              <a:t> </a:t>
            </a:r>
            <a:r>
              <a:rPr lang="en-US" b="1" dirty="0"/>
              <a:t>290</a:t>
            </a:r>
            <a:r>
              <a:rPr lang="en-US" dirty="0"/>
              <a:t>, 1355–1370 (2015). </a:t>
            </a:r>
            <a:r>
              <a:rPr lang="en-US" dirty="0">
                <a:hlinkClick r:id="rId3"/>
              </a:rPr>
              <a:t>https://doi.org/10.1007/s11207-015-0680-5</a:t>
            </a:r>
            <a:endParaRPr lang="en-BE" dirty="0"/>
          </a:p>
          <a:p>
            <a:endParaRPr lang="en-BE" dirty="0"/>
          </a:p>
          <a:p>
            <a:r>
              <a:rPr lang="en-US" dirty="0"/>
              <a:t>Reiss, M. A., M. Temmer, A. M. </a:t>
            </a:r>
            <a:r>
              <a:rPr lang="en-US" dirty="0" err="1"/>
              <a:t>Veronig</a:t>
            </a:r>
            <a:r>
              <a:rPr lang="en-US" dirty="0"/>
              <a:t>, L. Nikolic, S. </a:t>
            </a:r>
            <a:r>
              <a:rPr lang="en-US" dirty="0" err="1"/>
              <a:t>Vennerstrom</a:t>
            </a:r>
            <a:r>
              <a:rPr lang="en-US" dirty="0"/>
              <a:t>, F. </a:t>
            </a:r>
            <a:r>
              <a:rPr lang="en-US" dirty="0" err="1"/>
              <a:t>Schöngassner</a:t>
            </a:r>
            <a:r>
              <a:rPr lang="en-US" dirty="0"/>
              <a:t>, and S. J. Hofmeister (2016), Verification of high-speed solar wind stream forecasts using operational solar wind models, </a:t>
            </a:r>
            <a:r>
              <a:rPr lang="en-US" i="1" dirty="0"/>
              <a:t>Space Weather</a:t>
            </a:r>
            <a:r>
              <a:rPr lang="en-US" dirty="0"/>
              <a:t>, 14, 495–510, doi:</a:t>
            </a:r>
            <a:r>
              <a:rPr lang="en-US" dirty="0">
                <a:hlinkClick r:id="rId4" tooltip="Link to external resource: 10.1002/2016SW001390"/>
              </a:rPr>
              <a:t>10.1002/2016SW001390</a:t>
            </a:r>
            <a:r>
              <a:rPr lang="en-US" dirty="0"/>
              <a:t>.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4909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C01A-7DE5-B9DB-EF15-B201705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Datasets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EC4B-B9CF-0F20-0CAE-944BB790D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OMNIWEB data provides information about solar wind at L1 point</a:t>
            </a:r>
          </a:p>
          <a:p>
            <a:pPr marL="0" indent="0">
              <a:buNone/>
            </a:pPr>
            <a:r>
              <a:rPr lang="en-BE" dirty="0"/>
              <a:t>(</a:t>
            </a:r>
            <a:r>
              <a:rPr lang="en-US" dirty="0">
                <a:hlinkClick r:id="rId2"/>
              </a:rPr>
              <a:t>https://omniweb.gsfc.nasa.gov/form/dx1.html</a:t>
            </a:r>
            <a:r>
              <a:rPr lang="en-US" dirty="0"/>
              <a:t>)</a:t>
            </a:r>
            <a:endParaRPr lang="en-BE" dirty="0"/>
          </a:p>
          <a:p>
            <a:r>
              <a:rPr lang="en-BE" dirty="0"/>
              <a:t>Several EUV solar datasets available, the most used is the SDO/AIA</a:t>
            </a:r>
          </a:p>
          <a:p>
            <a:r>
              <a:rPr lang="en-BE" dirty="0"/>
              <a:t>There exists some ML-ready datasets (SDO-ML), as well as corresponding python script </a:t>
            </a:r>
            <a:r>
              <a:rPr lang="en-US" dirty="0">
                <a:hlinkClick r:id="rId3"/>
              </a:rPr>
              <a:t>https://github.com/sdoml</a:t>
            </a:r>
            <a:r>
              <a:rPr lang="en-BE" dirty="0"/>
              <a:t> </a:t>
            </a:r>
          </a:p>
          <a:p>
            <a:r>
              <a:rPr lang="en-BE" dirty="0"/>
              <a:t> </a:t>
            </a:r>
            <a:r>
              <a:rPr lang="en-US" dirty="0">
                <a:hlinkClick r:id="rId4"/>
              </a:rPr>
              <a:t>https://github.com/SDOML/SDOMLv2</a:t>
            </a:r>
            <a:r>
              <a:rPr lang="en-BE" dirty="0"/>
              <a:t> usage of </a:t>
            </a:r>
            <a:r>
              <a:rPr lang="en-BE" dirty="0" err="1"/>
              <a:t>zarr</a:t>
            </a:r>
            <a:r>
              <a:rPr lang="en-BE" dirty="0"/>
              <a:t> format for compressed N-</a:t>
            </a:r>
            <a:r>
              <a:rPr lang="en-BE" dirty="0" err="1"/>
              <a:t>dimen</a:t>
            </a:r>
            <a:r>
              <a:rPr lang="en-US" dirty="0"/>
              <a:t>s</a:t>
            </a:r>
            <a:r>
              <a:rPr lang="en-BE" dirty="0" err="1"/>
              <a:t>ional</a:t>
            </a:r>
            <a:r>
              <a:rPr lang="en-BE" dirty="0"/>
              <a:t> arrays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5A973-BBF4-96CB-9BE6-7261B376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621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5D2E-6E44-10D5-B3BA-E6E70CE2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E" dirty="0"/>
              <a:t>Solar wind speed </a:t>
            </a:r>
            <a:r>
              <a:rPr lang="en-BE" dirty="0" err="1"/>
              <a:t>predic</a:t>
            </a:r>
            <a:r>
              <a:rPr lang="en-US" dirty="0" err="1"/>
              <a:t>ti</a:t>
            </a:r>
            <a:r>
              <a:rPr lang="en-BE" dirty="0"/>
              <a:t>on from AIA 19.3 nm and 21.1nm (</a:t>
            </a:r>
            <a:r>
              <a:rPr lang="en-BE" dirty="0" err="1"/>
              <a:t>WindNet</a:t>
            </a:r>
            <a:r>
              <a:rPr lang="en-BE" dirty="0"/>
              <a:t>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825E1-C57C-4E92-77A6-2A5E693B8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Upendran</a:t>
            </a:r>
            <a:r>
              <a:rPr lang="en-BE" dirty="0"/>
              <a:t> et al 2020, </a:t>
            </a:r>
            <a:r>
              <a:rPr lang="en-BE" dirty="0" err="1"/>
              <a:t>doi</a:t>
            </a:r>
            <a:r>
              <a:rPr lang="en-BE" dirty="0"/>
              <a:t>: </a:t>
            </a:r>
            <a:r>
              <a:rPr lang="en-US" dirty="0">
                <a:hlinkClick r:id="rId2"/>
              </a:rPr>
              <a:t>10.1029/2020SW002478</a:t>
            </a:r>
            <a:r>
              <a:rPr lang="en-BE" dirty="0"/>
              <a:t> </a:t>
            </a:r>
          </a:p>
          <a:p>
            <a:r>
              <a:rPr lang="en-BE" dirty="0" err="1"/>
              <a:t>Bernoux</a:t>
            </a:r>
            <a:r>
              <a:rPr lang="en-BE" dirty="0"/>
              <a:t> et al paper makes extensive reference to </a:t>
            </a:r>
            <a:r>
              <a:rPr lang="en-BE" dirty="0" err="1"/>
              <a:t>Upendran</a:t>
            </a:r>
            <a:r>
              <a:rPr lang="en-BE" dirty="0"/>
              <a:t> paper (it was clearly an inspiration for them).</a:t>
            </a:r>
          </a:p>
          <a:p>
            <a:r>
              <a:rPr lang="en-BE" b="1" dirty="0"/>
              <a:t>Input </a:t>
            </a:r>
            <a:r>
              <a:rPr lang="en-BE" b="1" dirty="0" err="1"/>
              <a:t>datas</a:t>
            </a:r>
            <a:r>
              <a:rPr lang="en-US" b="1" dirty="0"/>
              <a:t>et</a:t>
            </a:r>
            <a:r>
              <a:rPr lang="en-BE" b="1" dirty="0"/>
              <a:t> : </a:t>
            </a:r>
            <a:r>
              <a:rPr lang="en-BE" dirty="0"/>
              <a:t>SDOML, 19.3nm and 21.1 nm</a:t>
            </a:r>
          </a:p>
          <a:p>
            <a:r>
              <a:rPr lang="en-BE" dirty="0"/>
              <a:t>Preprocessing: clipping of values, logarithmic rescaling</a:t>
            </a:r>
          </a:p>
          <a:p>
            <a:r>
              <a:rPr lang="en-BE" b="1" dirty="0"/>
              <a:t>T</a:t>
            </a:r>
            <a:r>
              <a:rPr lang="en-US" b="1" dirty="0"/>
              <a:t>a</a:t>
            </a:r>
            <a:r>
              <a:rPr lang="en-BE" b="1" dirty="0" err="1"/>
              <a:t>rget</a:t>
            </a:r>
            <a:r>
              <a:rPr lang="en-BE" b="1" dirty="0"/>
              <a:t> dataset: </a:t>
            </a:r>
            <a:r>
              <a:rPr lang="en-BE" dirty="0"/>
              <a:t>daily averaged SW speed measured at L1, obtained with OMNIWEB archive</a:t>
            </a:r>
          </a:p>
          <a:p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5EC5C-4714-CFDD-F407-5A159A7C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12210-C15B-027F-B816-E936EE66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533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0A3D-2A89-DFAE-EBF1-A2CD2F54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</a:t>
            </a:r>
            <a:r>
              <a:rPr lang="en-US" dirty="0"/>
              <a:t>r</a:t>
            </a:r>
            <a:r>
              <a:rPr lang="en-BE" dirty="0" err="1"/>
              <a:t>chitecture</a:t>
            </a:r>
            <a:r>
              <a:rPr lang="en-BE" dirty="0"/>
              <a:t> of </a:t>
            </a:r>
            <a:r>
              <a:rPr lang="en-BE" dirty="0" err="1"/>
              <a:t>WindNet</a:t>
            </a:r>
            <a:r>
              <a:rPr lang="en-BE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DFAD16-0631-81EB-BFF6-FEBE39B477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1301" y="1690688"/>
            <a:ext cx="6851296" cy="3476624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10F68-D0E5-A281-BCB8-A95F5DB33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0400" y="1690688"/>
            <a:ext cx="5181600" cy="4351338"/>
          </a:xfrm>
        </p:spPr>
        <p:txBody>
          <a:bodyPr>
            <a:normAutofit/>
          </a:bodyPr>
          <a:lstStyle/>
          <a:p>
            <a:r>
              <a:rPr lang="en-BE" dirty="0"/>
              <a:t>Use </a:t>
            </a:r>
            <a:r>
              <a:rPr lang="en-BE" dirty="0" err="1"/>
              <a:t>GoogLeNet</a:t>
            </a:r>
            <a:r>
              <a:rPr lang="en-BE" dirty="0"/>
              <a:t> as Feature extractor</a:t>
            </a:r>
          </a:p>
          <a:p>
            <a:r>
              <a:rPr lang="en-BE" dirty="0"/>
              <a:t>Temporal encoder using LSTM</a:t>
            </a:r>
          </a:p>
          <a:p>
            <a:r>
              <a:rPr lang="en-BE" dirty="0"/>
              <a:t>There are no decoder, as what is predicted is the SW velocity time series (no probabilistic forecast)</a:t>
            </a:r>
          </a:p>
          <a:p>
            <a:r>
              <a:rPr lang="en-BE" dirty="0"/>
              <a:t>Use nested cross-validation during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D6B3A-84CE-5B43-438B-3964ED2CCF91}"/>
              </a:ext>
            </a:extLst>
          </p:cNvPr>
          <p:cNvSpPr txBox="1"/>
          <p:nvPr/>
        </p:nvSpPr>
        <p:spPr>
          <a:xfrm>
            <a:off x="1101969" y="5486400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/>
              <a:t>FC = fully connected layer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E8DD6-98F1-59FC-DBBE-504791AA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4DEBD-2C05-B443-9373-0126F789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28306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E003A0-B429-2C3E-9DB1-E7A45A3A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Open R</a:t>
            </a:r>
            <a:r>
              <a:rPr lang="en-US" dirty="0"/>
              <a:t>e</a:t>
            </a:r>
            <a:r>
              <a:rPr lang="en-BE" dirty="0"/>
              <a:t>search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85660-9BDB-927D-B673-F70B846F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Upendran</a:t>
            </a:r>
            <a:r>
              <a:rPr lang="en-BE" dirty="0"/>
              <a:t> et al 2020, </a:t>
            </a:r>
            <a:r>
              <a:rPr lang="en-BE" dirty="0" err="1"/>
              <a:t>doi</a:t>
            </a:r>
            <a:r>
              <a:rPr lang="en-BE" dirty="0"/>
              <a:t>: </a:t>
            </a:r>
            <a:r>
              <a:rPr lang="en-US" dirty="0">
                <a:hlinkClick r:id="rId2"/>
              </a:rPr>
              <a:t>10.1029/2020SW002478</a:t>
            </a:r>
            <a:endParaRPr lang="en-BE" dirty="0"/>
          </a:p>
          <a:p>
            <a:endParaRPr lang="en-BE" dirty="0"/>
          </a:p>
          <a:p>
            <a:r>
              <a:rPr lang="en-BE" dirty="0"/>
              <a:t>Model is developed using the </a:t>
            </a:r>
            <a:r>
              <a:rPr lang="en-BE" i="1" dirty="0"/>
              <a:t>T</a:t>
            </a:r>
            <a:r>
              <a:rPr lang="en-US" i="1" dirty="0"/>
              <a:t>e</a:t>
            </a:r>
            <a:r>
              <a:rPr lang="en-BE" i="1" dirty="0" err="1"/>
              <a:t>nsorflow</a:t>
            </a:r>
            <a:r>
              <a:rPr lang="en-BE" i="1" dirty="0"/>
              <a:t> </a:t>
            </a:r>
            <a:r>
              <a:rPr lang="en-BE" dirty="0"/>
              <a:t>package (not </a:t>
            </a:r>
            <a:r>
              <a:rPr lang="en-BE" i="1" dirty="0" err="1"/>
              <a:t>PyTorch</a:t>
            </a:r>
            <a:r>
              <a:rPr lang="en-BE" dirty="0"/>
              <a:t>)</a:t>
            </a:r>
          </a:p>
          <a:p>
            <a:r>
              <a:rPr lang="en-US" dirty="0"/>
              <a:t>The code and data used in this work is open sourced (model may be found on </a:t>
            </a: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https://github.com/Vishal-Upendran/WindNet</a:t>
            </a:r>
            <a:r>
              <a:rPr lang="en-US" dirty="0"/>
              <a:t>).</a:t>
            </a:r>
            <a:r>
              <a:rPr lang="en-BE" dirty="0"/>
              <a:t> </a:t>
            </a:r>
          </a:p>
          <a:p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221AA9-71E9-DF24-3595-9EA469A5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885A88-9221-A941-4F28-7E737B59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080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2A4CB-EACC-4242-1B75-A46936C26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8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EDD62-7243-4163-D254-09E36D017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6525"/>
            <a:ext cx="12342589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77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D0EE-5B66-06CE-4AA8-56E0B1B4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2. Quantity of interest : </a:t>
            </a:r>
            <a:r>
              <a:rPr lang="en-BE" dirty="0" err="1"/>
              <a:t>Kp</a:t>
            </a:r>
            <a:r>
              <a:rPr lang="en-BE" dirty="0"/>
              <a:t>-index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252F-105F-4078-4B67-1FB2B9419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The ‘</a:t>
            </a:r>
            <a:r>
              <a:rPr lang="en-US" dirty="0"/>
              <a:t>planetary</a:t>
            </a:r>
            <a:r>
              <a:rPr lang="en-BE" dirty="0"/>
              <a:t>’</a:t>
            </a:r>
            <a:r>
              <a:rPr lang="en-US" dirty="0"/>
              <a:t> </a:t>
            </a:r>
            <a:r>
              <a:rPr lang="en-US" dirty="0" err="1"/>
              <a:t>Kp</a:t>
            </a:r>
            <a:r>
              <a:rPr lang="en-US" dirty="0"/>
              <a:t> index is</a:t>
            </a:r>
            <a:r>
              <a:rPr lang="en-BE" dirty="0"/>
              <a:t> computed from</a:t>
            </a:r>
            <a:r>
              <a:rPr lang="en-US" dirty="0"/>
              <a:t>  vector measurements of the</a:t>
            </a:r>
            <a:r>
              <a:rPr lang="en-BE" dirty="0"/>
              <a:t> </a:t>
            </a:r>
            <a:r>
              <a:rPr lang="en-US" dirty="0"/>
              <a:t>geomagnetic field from 13 mid-latitude stations</a:t>
            </a:r>
            <a:endParaRPr lang="en-BE" dirty="0"/>
          </a:p>
          <a:p>
            <a:r>
              <a:rPr lang="en-US" dirty="0"/>
              <a:t>It represents short-term magnetic variations driven</a:t>
            </a:r>
            <a:r>
              <a:rPr lang="en-BE" dirty="0"/>
              <a:t> </a:t>
            </a:r>
            <a:r>
              <a:rPr lang="en-US" dirty="0"/>
              <a:t>by solar wind plasma and interplanetary magnetic field</a:t>
            </a:r>
            <a:endParaRPr lang="en-BE" dirty="0"/>
          </a:p>
          <a:p>
            <a:r>
              <a:rPr lang="en-US" dirty="0" err="1"/>
              <a:t>Zhelavskaya</a:t>
            </a:r>
            <a:r>
              <a:rPr lang="en-US" dirty="0"/>
              <a:t> et al. [2019</a:t>
            </a:r>
            <a:r>
              <a:rPr lang="en-BE" dirty="0"/>
              <a:t>] use solar wind measurements  </a:t>
            </a:r>
            <a:r>
              <a:rPr lang="en-US" dirty="0"/>
              <a:t>(B</a:t>
            </a:r>
            <a:r>
              <a:rPr lang="en-BE" dirty="0"/>
              <a:t>x</a:t>
            </a:r>
            <a:r>
              <a:rPr lang="en-US" dirty="0"/>
              <a:t>, B</a:t>
            </a:r>
            <a:r>
              <a:rPr lang="en-BE" dirty="0"/>
              <a:t>y</a:t>
            </a:r>
            <a:r>
              <a:rPr lang="en-US" dirty="0"/>
              <a:t>, B</a:t>
            </a:r>
            <a:r>
              <a:rPr lang="en-BE" dirty="0"/>
              <a:t>z</a:t>
            </a:r>
            <a:r>
              <a:rPr lang="en-US" dirty="0"/>
              <a:t>, Vx, Vy, </a:t>
            </a:r>
            <a:r>
              <a:rPr lang="en-US" dirty="0" err="1"/>
              <a:t>Vz</a:t>
            </a:r>
            <a:r>
              <a:rPr lang="en-US" dirty="0"/>
              <a:t>, </a:t>
            </a:r>
            <a:r>
              <a:rPr lang="en-BE" dirty="0"/>
              <a:t>etc) at L1 point to predict </a:t>
            </a:r>
            <a:r>
              <a:rPr lang="en-BE" dirty="0" err="1"/>
              <a:t>Kp</a:t>
            </a:r>
            <a:r>
              <a:rPr lang="en-BE" dirty="0"/>
              <a:t>, by regression</a:t>
            </a:r>
          </a:p>
          <a:p>
            <a:pPr lvl="1"/>
            <a:r>
              <a:rPr lang="en-BE" dirty="0"/>
              <a:t>Other work on this: </a:t>
            </a:r>
            <a:r>
              <a:rPr lang="en-US" dirty="0"/>
              <a:t>Tan</a:t>
            </a:r>
            <a:r>
              <a:rPr lang="en-BE" dirty="0"/>
              <a:t> et al, 2028 , </a:t>
            </a:r>
            <a:r>
              <a:rPr lang="en-BE" dirty="0" err="1"/>
              <a:t>Wintoft</a:t>
            </a:r>
            <a:r>
              <a:rPr lang="en-BE" dirty="0"/>
              <a:t> et al 2017</a:t>
            </a:r>
          </a:p>
          <a:p>
            <a:r>
              <a:rPr lang="en-BE" dirty="0"/>
              <a:t>To improve forecasting time in the future, it is necessary to try and estimate </a:t>
            </a:r>
            <a:r>
              <a:rPr lang="en-BE" dirty="0" err="1"/>
              <a:t>Kp</a:t>
            </a:r>
            <a:r>
              <a:rPr lang="en-BE" dirty="0"/>
              <a:t> from EUV images.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D24D8-C398-AE21-598C-E53077AF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3121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1AC5-DFC1-A90D-8191-CEAB3F32C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608704"/>
            <a:ext cx="4587240" cy="936376"/>
          </a:xfrm>
        </p:spPr>
        <p:txBody>
          <a:bodyPr>
            <a:normAutofit fontScale="90000"/>
          </a:bodyPr>
          <a:lstStyle/>
          <a:p>
            <a:r>
              <a:rPr lang="en-BE" sz="2200" dirty="0">
                <a:solidFill>
                  <a:schemeClr val="tx2"/>
                </a:solidFill>
              </a:rPr>
              <a:t>SERNADE model : </a:t>
            </a:r>
            <a:r>
              <a:rPr lang="en-BE" sz="2200" dirty="0" err="1">
                <a:solidFill>
                  <a:schemeClr val="tx2"/>
                </a:solidFill>
              </a:rPr>
              <a:t>Kp</a:t>
            </a:r>
            <a:r>
              <a:rPr lang="en-BE" sz="2200" dirty="0">
                <a:solidFill>
                  <a:schemeClr val="tx2"/>
                </a:solidFill>
              </a:rPr>
              <a:t> prediction from AIA 19.3 nm (Bernoux et al 2022, </a:t>
            </a:r>
            <a:r>
              <a:rPr lang="en-BE" sz="2200" dirty="0" err="1">
                <a:solidFill>
                  <a:schemeClr val="tx2"/>
                </a:solidFill>
              </a:rPr>
              <a:t>doi</a:t>
            </a:r>
            <a:r>
              <a:rPr lang="en-BE" sz="2200" dirty="0">
                <a:solidFill>
                  <a:schemeClr val="tx2"/>
                </a:solidFill>
              </a:rPr>
              <a:t>:</a:t>
            </a:r>
            <a:r>
              <a:rPr lang="en-US" sz="22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10.1029/2022JA030868</a:t>
            </a:r>
            <a:r>
              <a:rPr lang="en-BE" sz="2200" dirty="0">
                <a:solidFill>
                  <a:schemeClr val="tx2"/>
                </a:solidFill>
              </a:rPr>
              <a:t>)</a:t>
            </a:r>
            <a:br>
              <a:rPr lang="en-BE" dirty="0"/>
            </a:b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4C2E-F764-AE5F-D833-0F36C3712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441" y="2545080"/>
            <a:ext cx="5181600" cy="3367396"/>
          </a:xfrm>
        </p:spPr>
        <p:txBody>
          <a:bodyPr>
            <a:normAutofit fontScale="62500" lnSpcReduction="20000"/>
          </a:bodyPr>
          <a:lstStyle/>
          <a:p>
            <a:r>
              <a:rPr lang="en-BE" b="1" dirty="0"/>
              <a:t>Input: </a:t>
            </a:r>
            <a:r>
              <a:rPr lang="en-BE" dirty="0"/>
              <a:t>ML-ready SDO/AIA images (Galvez et al 2019): </a:t>
            </a:r>
            <a:r>
              <a:rPr lang="en-BE" dirty="0" err="1"/>
              <a:t>github</a:t>
            </a:r>
            <a:r>
              <a:rPr lang="en-BE" dirty="0"/>
              <a:t>: </a:t>
            </a:r>
            <a:r>
              <a:rPr lang="en-US" dirty="0"/>
              <a:t>https://github.com/SDOML/SDOML</a:t>
            </a:r>
            <a:r>
              <a:rPr lang="en-BE" dirty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512x512 pixels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</a:t>
            </a:r>
            <a:r>
              <a:rPr lang="en-BE" dirty="0" err="1"/>
              <a:t>alibrated</a:t>
            </a:r>
            <a:r>
              <a:rPr lang="en-BE" dirty="0"/>
              <a:t>, corrected for degradation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</a:t>
            </a:r>
            <a:r>
              <a:rPr lang="en-BE" dirty="0" err="1"/>
              <a:t>orrupted</a:t>
            </a:r>
            <a:r>
              <a:rPr lang="en-BE" dirty="0"/>
              <a:t> images removed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05/2010-12/2018: </a:t>
            </a:r>
            <a:r>
              <a:rPr lang="en-BE" b="1" dirty="0"/>
              <a:t>8.5 years of data</a:t>
            </a:r>
          </a:p>
          <a:p>
            <a:pPr marL="0" indent="0">
              <a:buNone/>
            </a:pPr>
            <a:r>
              <a:rPr lang="en-BE" b="1" dirty="0"/>
              <a:t>Input Dataset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One wavelength: 19.3nm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Recent history: one image every 12hr, for 5 days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Input: image sequences of 10 images</a:t>
            </a:r>
          </a:p>
          <a:p>
            <a:pPr marL="0" indent="0">
              <a:buNone/>
            </a:pPr>
            <a:endParaRPr lang="en-BE" b="1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F774F-9A47-EE59-A310-908A7120B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73240" y="1589212"/>
            <a:ext cx="4587240" cy="51322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BE" b="1" dirty="0"/>
              <a:t>Additional preprocessing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Need to enhance contrast -&gt; clip intensity values to (min= 100DN, max= 500 DN)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After clipping, rescale to log10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Linear rescaling between 0 and 1.</a:t>
            </a:r>
          </a:p>
          <a:p>
            <a:pPr marL="0" indent="0">
              <a:buNone/>
            </a:pPr>
            <a:endParaRPr lang="en-BE" dirty="0"/>
          </a:p>
          <a:p>
            <a:pPr marL="0" indent="0">
              <a:buNone/>
            </a:pPr>
            <a:r>
              <a:rPr lang="en-BE" b="1" dirty="0"/>
              <a:t>Target dataset </a:t>
            </a:r>
            <a:r>
              <a:rPr lang="en-BE" dirty="0"/>
              <a:t>: </a:t>
            </a:r>
            <a:r>
              <a:rPr lang="en-BE" dirty="0" err="1"/>
              <a:t>Kp</a:t>
            </a:r>
            <a:r>
              <a:rPr lang="en-BE" dirty="0"/>
              <a:t> index: 27 discrete values ranging from 0 to 9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Available at GFZ Potsdam</a:t>
            </a:r>
          </a:p>
          <a:p>
            <a:pPr marL="0" indent="0">
              <a:buNone/>
            </a:pPr>
            <a:r>
              <a:rPr lang="en-US" dirty="0"/>
              <a:t>https://kp.gfz.de/en/</a:t>
            </a:r>
            <a:endParaRPr lang="en-BE" dirty="0"/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P</a:t>
            </a:r>
            <a:r>
              <a:rPr lang="en-US" dirty="0"/>
              <a:t>r</a:t>
            </a:r>
            <a:r>
              <a:rPr lang="en-BE" dirty="0" err="1"/>
              <a:t>ediction</a:t>
            </a:r>
            <a:r>
              <a:rPr lang="en-BE" dirty="0"/>
              <a:t> of daily maximum, not of three -hourly value of </a:t>
            </a:r>
            <a:r>
              <a:rPr lang="en-BE" dirty="0" err="1"/>
              <a:t>Kp</a:t>
            </a:r>
            <a:endParaRPr lang="en-BE" dirty="0"/>
          </a:p>
          <a:p>
            <a:pPr>
              <a:buFont typeface="Wingdings" panose="05000000000000000000" pitchFamily="2" charset="2"/>
              <a:buChar char="ü"/>
            </a:pPr>
            <a:r>
              <a:rPr lang="en-BE" dirty="0"/>
              <a:t>Up to 5 days in advance prediction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6BA3-10A7-47FE-CDC6-812A4C82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10</a:t>
            </a:fld>
            <a:endParaRPr lang="en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E76C1B-4669-C02D-53D5-5FDD2725E41B}"/>
              </a:ext>
            </a:extLst>
          </p:cNvPr>
          <p:cNvSpPr txBox="1">
            <a:spLocks/>
          </p:cNvSpPr>
          <p:nvPr/>
        </p:nvSpPr>
        <p:spPr>
          <a:xfrm>
            <a:off x="609600" y="136525"/>
            <a:ext cx="108508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E" dirty="0" err="1"/>
              <a:t>Kp</a:t>
            </a:r>
            <a:r>
              <a:rPr lang="en-BE" dirty="0"/>
              <a:t> prediction using deep learning: SERENADE</a:t>
            </a:r>
          </a:p>
        </p:txBody>
      </p:sp>
    </p:spTree>
    <p:extLst>
      <p:ext uri="{BB962C8B-B14F-4D97-AF65-F5344CB8AC3E}">
        <p14:creationId xmlns:p14="http://schemas.microsoft.com/office/powerpoint/2010/main" val="92288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7D76-FB64-1A6B-51D3-F5A4D6A5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7" y="1485666"/>
            <a:ext cx="4227200" cy="2827254"/>
          </a:xfrm>
        </p:spPr>
        <p:txBody>
          <a:bodyPr>
            <a:normAutofit/>
          </a:bodyPr>
          <a:lstStyle/>
          <a:p>
            <a:r>
              <a:rPr lang="en-BE" dirty="0"/>
              <a:t>Overview  SERENADE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1FE46-2963-6F02-64AD-01BD78F37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0" y="250427"/>
            <a:ext cx="6493094" cy="6683773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CEA0-6662-54B9-9E31-FC66B472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090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EE0D49-3F7A-CACF-72A5-C83DCBF7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a) F</a:t>
            </a:r>
            <a:r>
              <a:rPr lang="en-US" dirty="0"/>
              <a:t>e</a:t>
            </a:r>
            <a:r>
              <a:rPr lang="en-BE" dirty="0" err="1"/>
              <a:t>ature</a:t>
            </a:r>
            <a:r>
              <a:rPr lang="en-BE" dirty="0"/>
              <a:t> extractor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998380-323A-45CD-AC73-901D9617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</a:t>
            </a:r>
            <a:r>
              <a:rPr lang="en-BE" i="1" dirty="0" err="1"/>
              <a:t>orchvision</a:t>
            </a:r>
            <a:r>
              <a:rPr lang="en-BE" i="1" dirty="0"/>
              <a:t> </a:t>
            </a:r>
            <a:r>
              <a:rPr lang="en-BE" dirty="0"/>
              <a:t>package , developed by</a:t>
            </a:r>
            <a:r>
              <a:rPr lang="en-BE" i="1" dirty="0"/>
              <a:t> </a:t>
            </a:r>
            <a:r>
              <a:rPr lang="en-BE" i="1" dirty="0" err="1"/>
              <a:t>Pytorch</a:t>
            </a:r>
            <a:r>
              <a:rPr lang="en-BE" i="1" dirty="0"/>
              <a:t> </a:t>
            </a:r>
            <a:r>
              <a:rPr lang="en-BE" dirty="0"/>
              <a:t>team: provide pre-trained CNN specialized in classification of samples from </a:t>
            </a:r>
            <a:r>
              <a:rPr lang="en-BE" dirty="0" err="1"/>
              <a:t>ImateNet</a:t>
            </a:r>
            <a:r>
              <a:rPr lang="en-BE" dirty="0"/>
              <a:t> database.</a:t>
            </a:r>
          </a:p>
          <a:p>
            <a:r>
              <a:rPr lang="en-BE" dirty="0"/>
              <a:t>A pre-trained model is used. </a:t>
            </a:r>
            <a:r>
              <a:rPr lang="en-BE" i="1" dirty="0" err="1"/>
              <a:t>GoogLeNet</a:t>
            </a:r>
            <a:r>
              <a:rPr lang="en-BE" dirty="0"/>
              <a:t> ‘Inception’ model (</a:t>
            </a:r>
            <a:r>
              <a:rPr lang="en-BE" dirty="0" err="1"/>
              <a:t>Szegedy</a:t>
            </a:r>
            <a:r>
              <a:rPr lang="en-BE" dirty="0"/>
              <a:t> et al , 2014) is chosen </a:t>
            </a:r>
            <a:r>
              <a:rPr lang="en-BE" dirty="0" err="1"/>
              <a:t>amon</a:t>
            </a:r>
            <a:r>
              <a:rPr lang="en-US" dirty="0"/>
              <a:t>g</a:t>
            </a:r>
            <a:r>
              <a:rPr lang="en-BE" dirty="0" err="1"/>
              <a:t>st</a:t>
            </a:r>
            <a:r>
              <a:rPr lang="en-BE" dirty="0"/>
              <a:t> several other models </a:t>
            </a:r>
          </a:p>
          <a:p>
            <a:r>
              <a:rPr lang="en-BE" dirty="0"/>
              <a:t>1x512x512 image converted to 3x224x224  to use </a:t>
            </a:r>
            <a:r>
              <a:rPr lang="en-BE" dirty="0" err="1"/>
              <a:t>GoogLeNet</a:t>
            </a:r>
            <a:endParaRPr lang="en-BE" dirty="0"/>
          </a:p>
          <a:p>
            <a:r>
              <a:rPr lang="en-BE" dirty="0"/>
              <a:t>Classification layer was removed -&gt;  Feature extractor output is a vector of size 1024.</a:t>
            </a:r>
          </a:p>
          <a:p>
            <a:r>
              <a:rPr lang="en-BE" dirty="0"/>
              <a:t> 10 images in a sequence -&gt; vector of size 10x1024 as output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716E3-C972-E089-DA69-6EF7F83AD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49691-C579-22C4-E044-CD3595E7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0073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39EE-CF13-F08F-E367-89E11F07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b) Temporal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146F9-A7BE-FA40-AEB0-F71903D22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E" dirty="0"/>
              <a:t>Input : vector of size 10x1024</a:t>
            </a:r>
          </a:p>
          <a:p>
            <a:r>
              <a:rPr lang="en-BE" dirty="0"/>
              <a:t>Goal: </a:t>
            </a:r>
            <a:r>
              <a:rPr lang="en-US" dirty="0"/>
              <a:t>E</a:t>
            </a:r>
            <a:r>
              <a:rPr lang="en-BE" dirty="0" err="1"/>
              <a:t>xtract</a:t>
            </a:r>
            <a:r>
              <a:rPr lang="en-BE" dirty="0"/>
              <a:t> information from the temporal evolution of the features extracted in previous step</a:t>
            </a:r>
          </a:p>
          <a:p>
            <a:r>
              <a:rPr lang="en-BE" dirty="0"/>
              <a:t>Recurrent neural network (RNN) of the type ‘LSTM’ Long-short term me</a:t>
            </a:r>
            <a:r>
              <a:rPr lang="en-US" dirty="0" err="1"/>
              <a:t>mo</a:t>
            </a:r>
            <a:r>
              <a:rPr lang="en-BE" dirty="0" err="1"/>
              <a:t>ry</a:t>
            </a:r>
            <a:r>
              <a:rPr lang="en-BE" dirty="0"/>
              <a:t>, with two layers. </a:t>
            </a:r>
            <a:r>
              <a:rPr lang="en-US" dirty="0"/>
              <a:t>S</a:t>
            </a:r>
            <a:r>
              <a:rPr lang="en-BE" dirty="0" err="1"/>
              <a:t>ame</a:t>
            </a:r>
            <a:r>
              <a:rPr lang="en-BE" dirty="0"/>
              <a:t> architecture as the one  used for studying solar wind speed prediction from AIA images (</a:t>
            </a:r>
            <a:r>
              <a:rPr lang="en-BE" dirty="0" err="1"/>
              <a:t>Upendran</a:t>
            </a:r>
            <a:r>
              <a:rPr lang="en-BE" dirty="0"/>
              <a:t> et al 2020)</a:t>
            </a:r>
          </a:p>
          <a:p>
            <a:r>
              <a:rPr lang="en-BE" dirty="0"/>
              <a:t>Output : vector of size 1x2048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5302-8574-EC99-EDD4-3A8E7BB1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5D494-F1A1-D34E-CEF6-C873CC38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0812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9DD0-6FC9-D835-0CEB-FC61AE69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" y="611278"/>
            <a:ext cx="3131583" cy="7465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BE" sz="3600" dirty="0"/>
              <a:t>c) </a:t>
            </a:r>
            <a:r>
              <a:rPr lang="en-US" sz="3600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4CCD-B82F-AC59-D852-2BC261A15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2436" y="1792919"/>
            <a:ext cx="4371549" cy="35826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BE" sz="1800" dirty="0"/>
              <a:t>Goal: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800" dirty="0"/>
              <a:t>Convert </a:t>
            </a:r>
            <a:r>
              <a:rPr lang="en-US" sz="1800" dirty="0" err="1"/>
              <a:t>spatio</a:t>
            </a:r>
            <a:r>
              <a:rPr lang="en-US" sz="1800" dirty="0"/>
              <a:t>-temporal features (obtained from feature </a:t>
            </a:r>
            <a:r>
              <a:rPr lang="en-US" sz="1800" dirty="0" err="1"/>
              <a:t>extractor+temporal</a:t>
            </a:r>
            <a:r>
              <a:rPr lang="en-US" sz="1800" dirty="0"/>
              <a:t> encoder)  into human-understandable prediction</a:t>
            </a:r>
          </a:p>
          <a:p>
            <a:r>
              <a:rPr lang="en-US" sz="1800" dirty="0"/>
              <a:t>Probabilistic forecast following a normal distribution -&gt; need to estimate the mean and variance of the normal distribution</a:t>
            </a:r>
          </a:p>
          <a:p>
            <a:r>
              <a:rPr lang="en-US" sz="1800" dirty="0"/>
              <a:t>Multilayer perceptron: three linear (dense) layers of decreasing sizes. </a:t>
            </a:r>
            <a:endParaRPr lang="en-BE" sz="1800" dirty="0"/>
          </a:p>
          <a:p>
            <a:endParaRPr lang="en-BE" sz="18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1CE7AE-44F6-D28E-F61D-FCC5A10A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738E26-EFBA-B6A7-B73D-3EFF7CCE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14</a:t>
            </a:fld>
            <a:endParaRPr lang="en-BE"/>
          </a:p>
        </p:txBody>
      </p:sp>
      <p:pic>
        <p:nvPicPr>
          <p:cNvPr id="9" name="Main graphic">
            <a:extLst>
              <a:ext uri="{FF2B5EF4-FFF2-40B4-BE49-F238E27FC236}">
                <a16:creationId xmlns:a16="http://schemas.microsoft.com/office/drawing/2014/main" id="{88D1EBE0-8C11-32B5-E6B1-5500DB29460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839764" y="1134401"/>
            <a:ext cx="7139800" cy="5084057"/>
          </a:xfrm>
          <a:prstGeom prst="rect">
            <a:avLst/>
          </a:prstGeom>
          <a:ln>
            <a:noFill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16670A3-B444-9154-5C79-2F870D129778}"/>
              </a:ext>
            </a:extLst>
          </p:cNvPr>
          <p:cNvSpPr txBox="1">
            <a:spLocks/>
          </p:cNvSpPr>
          <p:nvPr/>
        </p:nvSpPr>
        <p:spPr>
          <a:xfrm>
            <a:off x="5970947" y="387874"/>
            <a:ext cx="4503089" cy="746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E" sz="3600" dirty="0"/>
              <a:t>The whole architecture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46053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D6704-8D8F-EA03-BB55-A0FBF0A7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B86DE-8DF6-5AF4-A7B8-0C9B62AFF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4" name="Picture 3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8DC97EE5-A6AB-0E48-D1D0-32982BEB77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54" b="7061"/>
          <a:stretch/>
        </p:blipFill>
        <p:spPr>
          <a:xfrm>
            <a:off x="226952" y="133378"/>
            <a:ext cx="11738096" cy="622903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F8DC-ADDD-7DE5-2AD7-02B7A5D3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15</a:t>
            </a:fld>
            <a:endParaRPr lang="en-B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760F6-88C2-E9A9-3D7F-86854F985CC2}"/>
              </a:ext>
            </a:extLst>
          </p:cNvPr>
          <p:cNvSpPr txBox="1"/>
          <p:nvPr/>
        </p:nvSpPr>
        <p:spPr>
          <a:xfrm>
            <a:off x="478536" y="5788680"/>
            <a:ext cx="1853184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BE" sz="1400" dirty="0"/>
              <a:t>Slide seminar </a:t>
            </a:r>
            <a:r>
              <a:rPr lang="en-US" sz="1400" dirty="0"/>
              <a:t>Maria Tahtouh </a:t>
            </a:r>
            <a:endParaRPr lang="en-BE" sz="1400" dirty="0"/>
          </a:p>
        </p:txBody>
      </p:sp>
    </p:spTree>
    <p:extLst>
      <p:ext uri="{BB962C8B-B14F-4D97-AF65-F5344CB8AC3E}">
        <p14:creationId xmlns:p14="http://schemas.microsoft.com/office/powerpoint/2010/main" val="809153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E180-A73A-4DEE-3FF9-43B2DAA3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08" y="-4096"/>
            <a:ext cx="10515600" cy="1325563"/>
          </a:xfrm>
        </p:spPr>
        <p:txBody>
          <a:bodyPr/>
          <a:lstStyle/>
          <a:p>
            <a:r>
              <a:rPr lang="en-BE" dirty="0"/>
              <a:t>Training with nested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8CE7-64EA-BE8D-1C22-54F6B7E48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9328" y="1331849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</a:t>
            </a:r>
            <a:r>
              <a:rPr lang="en-BE" dirty="0" err="1"/>
              <a:t>oal</a:t>
            </a:r>
            <a:r>
              <a:rPr lang="en-BE" dirty="0"/>
              <a:t>: be able to use in an optimal way all the data we have</a:t>
            </a:r>
          </a:p>
          <a:p>
            <a:r>
              <a:rPr lang="en-BE" dirty="0"/>
              <a:t>If we split rigidly into training/validation/test: not enough data for good performance evaluation</a:t>
            </a:r>
          </a:p>
          <a:p>
            <a:r>
              <a:rPr lang="en-BE" dirty="0"/>
              <a:t>In nested cross-validation, every data is used for training/validation/test at different stage</a:t>
            </a:r>
          </a:p>
        </p:txBody>
      </p:sp>
      <p:pic>
        <p:nvPicPr>
          <p:cNvPr id="6" name="Content Placeholder 5" descr="A diagram of a test&#10;&#10;Description automatically generated">
            <a:extLst>
              <a:ext uri="{FF2B5EF4-FFF2-40B4-BE49-F238E27FC236}">
                <a16:creationId xmlns:a16="http://schemas.microsoft.com/office/drawing/2014/main" id="{53A2D33F-EBE3-058E-D844-C6952BFF8B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541" y="996495"/>
            <a:ext cx="4348667" cy="5382701"/>
          </a:xfr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2DE9E61-A30B-6773-3190-D9CF369A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BC4155-F998-DB55-59DD-D2D0F324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5381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DDA1-2CF5-6C96-94A0-0E83B272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Evaluation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70A5A-8FF0-8082-E758-5D5F0B79B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</a:t>
            </a:r>
            <a:r>
              <a:rPr lang="en-BE" dirty="0"/>
              <a:t>sing benchmark model: climatological model (using mean and std over a large period), persistence model (use last value as </a:t>
            </a:r>
            <a:r>
              <a:rPr lang="en-BE" dirty="0" err="1"/>
              <a:t>predic</a:t>
            </a:r>
            <a:r>
              <a:rPr lang="en-US" dirty="0" err="1"/>
              <a:t>ti</a:t>
            </a:r>
            <a:r>
              <a:rPr lang="en-BE" dirty="0"/>
              <a:t>on for future value) , recurrence model (27 day recurrence)</a:t>
            </a:r>
          </a:p>
          <a:p>
            <a:r>
              <a:rPr lang="en-BE" dirty="0"/>
              <a:t>Evaluation measure: Mean absolute value, RMSE, Pearson correlation</a:t>
            </a:r>
          </a:p>
          <a:p>
            <a:endParaRPr lang="en-BE" dirty="0"/>
          </a:p>
          <a:p>
            <a:r>
              <a:rPr lang="en-BE" dirty="0"/>
              <a:t>See </a:t>
            </a:r>
            <a:r>
              <a:rPr lang="en-US" dirty="0">
                <a:hlinkClick r:id="rId2"/>
              </a:rPr>
              <a:t>https://agupubs.onlinelibrary.wiley.com/doi/full/10.1029/2022JA030868</a:t>
            </a:r>
            <a:r>
              <a:rPr lang="en-BE" dirty="0"/>
              <a:t> for all the results </a:t>
            </a:r>
          </a:p>
          <a:p>
            <a:r>
              <a:rPr lang="en-BE" dirty="0"/>
              <a:t>Open research statement “</a:t>
            </a:r>
            <a:r>
              <a:rPr lang="en-US" dirty="0"/>
              <a:t>We provide the outputs of our model and of the baseline models for the whole period covered by the SDOML data set online: </a:t>
            </a:r>
            <a:r>
              <a:rPr lang="en-US" dirty="0">
                <a:hlinkClick r:id="rId3"/>
              </a:rPr>
              <a:t>https://zenodo.org/record/6873690</a:t>
            </a:r>
            <a:r>
              <a:rPr lang="en-US" dirty="0"/>
              <a:t> (</a:t>
            </a:r>
            <a:r>
              <a:rPr lang="en-US" dirty="0" err="1"/>
              <a:t>Bernoux</a:t>
            </a:r>
            <a:r>
              <a:rPr lang="en-US" dirty="0"/>
              <a:t> et al., </a:t>
            </a:r>
            <a:r>
              <a:rPr lang="en-US" dirty="0">
                <a:hlinkClick r:id="rId4"/>
              </a:rPr>
              <a:t>2022</a:t>
            </a:r>
            <a:r>
              <a:rPr lang="en-US" dirty="0"/>
              <a:t>).</a:t>
            </a:r>
            <a:r>
              <a:rPr lang="en-BE" dirty="0"/>
              <a:t>”</a:t>
            </a:r>
          </a:p>
          <a:p>
            <a:r>
              <a:rPr lang="en-BE" dirty="0"/>
              <a:t>code itself is not available. </a:t>
            </a:r>
          </a:p>
          <a:p>
            <a:endParaRPr lang="en-BE" dirty="0"/>
          </a:p>
          <a:p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39334-0DEC-E0E7-FD5B-EAD06727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SIDC discussion group – 11 June 2024 </a:t>
            </a:r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0075A-670F-83AC-1A0E-1C9B5A45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27629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FAC3-B835-5167-FFEC-FB3E10B8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Improvements on first results of SERNEADE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EF8DB-C667-31E7-1203-E96FC843E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09" y="1424677"/>
            <a:ext cx="11069782" cy="1721479"/>
          </a:xfrm>
        </p:spPr>
        <p:txBody>
          <a:bodyPr>
            <a:normAutofit fontScale="92500"/>
          </a:bodyPr>
          <a:lstStyle/>
          <a:p>
            <a:r>
              <a:rPr lang="en-BE" dirty="0"/>
              <a:t>1.The same probabilistic models was trained to predict solar wind speed, using an extended dataset ( </a:t>
            </a:r>
            <a:r>
              <a:rPr lang="en-BE" dirty="0">
                <a:solidFill>
                  <a:srgbClr val="FF0000"/>
                </a:solidFill>
              </a:rPr>
              <a:t>SDO/AIA+ SOHO/EIT images</a:t>
            </a:r>
            <a:r>
              <a:rPr lang="en-BE" dirty="0"/>
              <a:t>). This improved the results </a:t>
            </a:r>
            <a:r>
              <a:rPr lang="en-BE" dirty="0" err="1"/>
              <a:t>wrt</a:t>
            </a:r>
            <a:r>
              <a:rPr lang="en-BE" dirty="0"/>
              <a:t> using only images from Solar cycle 24.-&gt; </a:t>
            </a:r>
            <a:r>
              <a:rPr lang="en-BE" dirty="0" err="1"/>
              <a:t>cfr</a:t>
            </a:r>
            <a:r>
              <a:rPr lang="en-BE" dirty="0"/>
              <a:t> slides of talk made at ESWW2025: </a:t>
            </a:r>
            <a:r>
              <a:rPr lang="en-US" dirty="0">
                <a:solidFill>
                  <a:srgbClr val="FF0000"/>
                </a:solidFill>
              </a:rPr>
              <a:t>BernouxGuillerme_ESWW2025_CD1</a:t>
            </a:r>
            <a:r>
              <a:rPr lang="en-BE" dirty="0">
                <a:solidFill>
                  <a:srgbClr val="FF0000"/>
                </a:solidFill>
              </a:rPr>
              <a:t>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C2B1-7726-74CF-B116-EB344164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249C0-99BF-4490-9BBD-E823780550C6}" type="slidenum">
              <a:rPr lang="en-BE" smtClean="0"/>
              <a:t>18</a:t>
            </a:fld>
            <a:endParaRPr lang="en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E266D-7239-B6B5-1A4F-604AF3444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638" y="3590745"/>
            <a:ext cx="6024339" cy="2620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EAA7CF-F297-B342-2114-B9C90F96659C}"/>
              </a:ext>
            </a:extLst>
          </p:cNvPr>
          <p:cNvSpPr txBox="1"/>
          <p:nvPr/>
        </p:nvSpPr>
        <p:spPr>
          <a:xfrm>
            <a:off x="377023" y="3331220"/>
            <a:ext cx="48341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BE" dirty="0"/>
          </a:p>
          <a:p>
            <a:r>
              <a:rPr lang="en-BE" dirty="0"/>
              <a:t>2. Another member of the team studied the </a:t>
            </a:r>
            <a:r>
              <a:rPr lang="en-US" b="1" dirty="0"/>
              <a:t>Comparison of Solar Imaging Feature Extraction Methods</a:t>
            </a:r>
            <a:endParaRPr lang="en-BE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dirty="0"/>
              <a:t>Replace pre-trained model with an Variational Auto-encoder, directly trained from the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dirty="0"/>
              <a:t> =&gt;  more consistent (less variable) performance results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BE" dirty="0"/>
              <a:t>Ref: </a:t>
            </a:r>
          </a:p>
          <a:p>
            <a:pPr lvl="1"/>
            <a:r>
              <a:rPr lang="en-BE" dirty="0"/>
              <a:t> </a:t>
            </a:r>
            <a:r>
              <a:rPr lang="en-US" dirty="0">
                <a:hlinkClick r:id="rId3"/>
              </a:rPr>
              <a:t>https://doi.org/10.1029/2024JH000566</a:t>
            </a:r>
            <a:endParaRPr lang="en-US" dirty="0"/>
          </a:p>
          <a:p>
            <a:endParaRPr lang="en-BE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BC6D3AB-E9D3-9A16-6583-64B70B41C2F0}"/>
              </a:ext>
            </a:extLst>
          </p:cNvPr>
          <p:cNvSpPr/>
          <p:nvPr/>
        </p:nvSpPr>
        <p:spPr>
          <a:xfrm>
            <a:off x="4876800" y="4944828"/>
            <a:ext cx="913838" cy="3431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065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1357</Words>
  <Application>Microsoft Office PowerPoint</Application>
  <PresentationFormat>Widescreen</PresentationFormat>
  <Paragraphs>124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Prediction of geomagnetic disturbance using empirical models</vt:lpstr>
      <vt:lpstr>1. Quantity of interest: Solar wind speed</vt:lpstr>
      <vt:lpstr>Empirical solar wind forecast (ESWF) model</vt:lpstr>
      <vt:lpstr>Datasets </vt:lpstr>
      <vt:lpstr>Solar wind speed prediction from AIA 19.3 nm and 21.1nm (WindNet model)</vt:lpstr>
      <vt:lpstr>Architecture of WindNet:</vt:lpstr>
      <vt:lpstr>Open Research statement</vt:lpstr>
      <vt:lpstr>PowerPoint Presentation</vt:lpstr>
      <vt:lpstr>2. Quantity of interest : Kp-index</vt:lpstr>
      <vt:lpstr>SERNADE model : Kp prediction from AIA 19.3 nm (Bernoux et al 2022, doi:10.1029/2022JA030868) </vt:lpstr>
      <vt:lpstr>Overview  SERENADE model</vt:lpstr>
      <vt:lpstr>a) Feature extractor</vt:lpstr>
      <vt:lpstr>b) Temporal encoder</vt:lpstr>
      <vt:lpstr>c) Decoder</vt:lpstr>
      <vt:lpstr>PowerPoint Presentation</vt:lpstr>
      <vt:lpstr>Training with nested cross-validation</vt:lpstr>
      <vt:lpstr>Evaluation of the model</vt:lpstr>
      <vt:lpstr>Improvements on first results of SERNEADE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Véronique Delouille</dc:creator>
  <cp:lastModifiedBy>Véronique Delouille</cp:lastModifiedBy>
  <cp:revision>13</cp:revision>
  <dcterms:created xsi:type="dcterms:W3CDTF">2024-06-10T08:43:45Z</dcterms:created>
  <dcterms:modified xsi:type="dcterms:W3CDTF">2026-01-27T10:44:50Z</dcterms:modified>
</cp:coreProperties>
</file>